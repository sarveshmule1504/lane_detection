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29400" y="594360"/>
            <a:ext cx="4983480" cy="5623560"/>
          </a:xfrm>
          <a:prstGeom prst="roundRect">
            <a:avLst/>
          </a:prstGeom>
          <a:solidFill>
            <a:srgbClr val="132030"/>
          </a:solidFill>
          <a:ln>
            <a:solidFill>
              <a:srgbClr val="374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crop_t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731520"/>
            <a:ext cx="4709160" cy="3520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" y="731520"/>
            <a:ext cx="5577840" cy="530352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34440"/>
            <a:ext cx="4937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DCCE6"/>
                </a:solidFill>
                <a:latin typeface="Aptos"/>
              </a:rPr>
              <a:t>AI-BASED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737360"/>
            <a:ext cx="5486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5F8FC"/>
                </a:solidFill>
                <a:latin typeface="Aptos"/>
              </a:rPr>
              <a:t>SMART VEHICLE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4983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AB42"/>
                </a:solidFill>
                <a:latin typeface="Aptos"/>
              </a:rPr>
              <a:t>Adaptive Cruise Control  |  Lane Assistance  |  Obstacle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9476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BBBCC"/>
                </a:solidFill>
                <a:latin typeface="Aptos"/>
              </a:rPr>
              <a:t>ENTC MEGA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51960"/>
            <a:ext cx="4663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Hardware prototype with AI-based perception and real-time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166360"/>
            <a:ext cx="1389888" cy="411480"/>
          </a:xfrm>
          <a:prstGeom prst="roundRect">
            <a:avLst/>
          </a:prstGeom>
          <a:solidFill>
            <a:srgbClr val="192A3E"/>
          </a:solidFill>
          <a:ln>
            <a:solidFill>
              <a:srgbClr val="2DC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184648"/>
            <a:ext cx="13898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DCCE6"/>
                </a:solidFill>
                <a:latin typeface="Aptos"/>
              </a:rPr>
              <a:t>AI VISION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2888" y="5166360"/>
            <a:ext cx="1389888" cy="411480"/>
          </a:xfrm>
          <a:prstGeom prst="roundRect">
            <a:avLst/>
          </a:prstGeom>
          <a:solidFill>
            <a:srgbClr val="192A3E"/>
          </a:solidFill>
          <a:ln>
            <a:solidFill>
              <a:srgbClr val="4AD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8" y="5184648"/>
            <a:ext cx="13898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4AD693"/>
                </a:solidFill>
                <a:latin typeface="Aptos"/>
              </a:rPr>
              <a:t>SAFETY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05656" y="5166360"/>
            <a:ext cx="1389888" cy="411480"/>
          </a:xfrm>
          <a:prstGeom prst="roundRect">
            <a:avLst/>
          </a:prstGeom>
          <a:solidFill>
            <a:srgbClr val="192A3E"/>
          </a:solidFill>
          <a:ln>
            <a:solidFill>
              <a:srgbClr val="FFA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5656" y="5184648"/>
            <a:ext cx="13898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AB42"/>
                </a:solidFill>
                <a:latin typeface="Aptos"/>
              </a:rPr>
              <a:t>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697D91"/>
                </a:solidFill>
                <a:latin typeface="Aptos"/>
              </a:rPr>
              <a:t>AI-Based Smart Vehicle | ENTC Mega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Why a Smart Vehicle?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3832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DCCE6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05840" cy="50292"/>
          </a:xfrm>
          <a:prstGeom prst="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33271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ABBBCC"/>
                </a:solidFill>
                <a:latin typeface="Aptos"/>
              </a:rPr>
              <a:t>The project combines electronics, embedded systems, AI and automotive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74720" cy="342900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4864" cy="3429000"/>
          </a:xfrm>
          <a:prstGeom prst="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28216"/>
            <a:ext cx="31546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1  SENSE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30552"/>
            <a:ext cx="3154679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Camera, ultrasonic and IR sensors observe the vehicle environment.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474720" cy="342900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54864" cy="3429000"/>
          </a:xfrm>
          <a:prstGeom prst="rect">
            <a:avLst/>
          </a:prstGeom>
          <a:solidFill>
            <a:srgbClr val="FF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28216"/>
            <a:ext cx="31546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2  THINK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30552"/>
            <a:ext cx="3154679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Raspberry Pi processes sensor data and runs computer-vision logic.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474720" cy="342900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54864" cy="3429000"/>
          </a:xfrm>
          <a:prstGeom prst="rect">
            <a:avLst/>
          </a:prstGeom>
          <a:solidFill>
            <a:srgbClr val="4AD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28216"/>
            <a:ext cx="31546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3  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30552"/>
            <a:ext cx="3154679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Controller drives motors, steering and safety warnings.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4068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DCCE6"/>
                </a:solidFill>
                <a:latin typeface="Aptos"/>
              </a:rPr>
              <a:t>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330952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Build a small, reliable vehicle that demonstrates real ADAS concepts on a tabletop track.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697D91"/>
                </a:solidFill>
                <a:latin typeface="Aptos"/>
              </a:rPr>
              <a:t>AI-Based Smart Vehicle | ENTC Mega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3832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DCCE6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05840" cy="50292"/>
          </a:xfrm>
          <a:prstGeom prst="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33271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ABBBCC"/>
                </a:solidFill>
                <a:latin typeface="Aptos"/>
              </a:rPr>
              <a:t>Perception → decision → actuation.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423160" cy="987552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4864" cy="987552"/>
          </a:xfrm>
          <a:prstGeom prst="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36776"/>
            <a:ext cx="2103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Camera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39112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Lane + objects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39"/>
            <a:ext cx="2423160" cy="987552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39"/>
            <a:ext cx="54864" cy="987552"/>
          </a:xfrm>
          <a:prstGeom prst="rect">
            <a:avLst/>
          </a:prstGeom>
          <a:solidFill>
            <a:srgbClr val="FF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962656"/>
            <a:ext cx="2103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Ultrasonic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364991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Distance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2423160" cy="987552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60520"/>
            <a:ext cx="54864" cy="987552"/>
          </a:xfrm>
          <a:prstGeom prst="rect">
            <a:avLst/>
          </a:prstGeom>
          <a:solidFill>
            <a:srgbClr val="4AD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288536"/>
            <a:ext cx="2103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IR Sensors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690872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Lane position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2057400"/>
            <a:ext cx="3703320" cy="2148840"/>
          </a:xfrm>
          <a:prstGeom prst="roundRect">
            <a:avLst/>
          </a:prstGeom>
          <a:solidFill>
            <a:srgbClr val="192A3E"/>
          </a:solidFill>
          <a:ln>
            <a:solidFill>
              <a:srgbClr val="2DC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2331720"/>
            <a:ext cx="3154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5F8FC"/>
                </a:solidFill>
                <a:latin typeface="Aptos"/>
              </a:rPr>
              <a:t>RASPBERRY 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834640"/>
            <a:ext cx="3154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ABBBCC"/>
                </a:solidFill>
                <a:latin typeface="Aptos"/>
              </a:rPr>
              <a:t>AI / OpenCV
Decision Logic
Sensor Fusion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2057400"/>
            <a:ext cx="2651760" cy="2148840"/>
          </a:xfrm>
          <a:prstGeom prst="roundRect">
            <a:avLst/>
          </a:prstGeom>
          <a:solidFill>
            <a:srgbClr val="192A3E"/>
          </a:solidFill>
          <a:ln>
            <a:solidFill>
              <a:srgbClr val="4AD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33172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ESP32 / ARDUINO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852928"/>
            <a:ext cx="2194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ABBBCC"/>
                </a:solidFill>
                <a:latin typeface="Aptos"/>
              </a:rPr>
              <a:t>Real-time I/O
PWM control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663440"/>
            <a:ext cx="2331720" cy="91440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4663440"/>
            <a:ext cx="54864" cy="914400"/>
          </a:xfrm>
          <a:prstGeom prst="rect">
            <a:avLst/>
          </a:prstGeom>
          <a:solidFill>
            <a:srgbClr val="FF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791455"/>
            <a:ext cx="20116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Motor Driver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193792"/>
            <a:ext cx="2011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Speed control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52760" y="4663440"/>
            <a:ext cx="914400" cy="91440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652760" y="4663440"/>
            <a:ext cx="54864" cy="914400"/>
          </a:xfrm>
          <a:prstGeom prst="rect">
            <a:avLst/>
          </a:prstGeom>
          <a:solidFill>
            <a:srgbClr val="4AD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35640" y="4791455"/>
            <a:ext cx="594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Servo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5193792"/>
            <a:ext cx="594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Steer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063240" y="2011680"/>
            <a:ext cx="822960" cy="868680"/>
          </a:xfrm>
          <a:prstGeom prst="line">
            <a:avLst/>
          </a:prstGeom>
          <a:ln w="31750">
            <a:solidFill>
              <a:srgbClr val="2DC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063240" y="2880360"/>
            <a:ext cx="822960" cy="457200"/>
          </a:xfrm>
          <a:prstGeom prst="line">
            <a:avLst/>
          </a:prstGeom>
          <a:ln w="31750">
            <a:solidFill>
              <a:srgbClr val="2DC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063240" y="2880360"/>
            <a:ext cx="822960" cy="1783080"/>
          </a:xfrm>
          <a:prstGeom prst="line">
            <a:avLst/>
          </a:prstGeom>
          <a:ln w="31750">
            <a:solidFill>
              <a:srgbClr val="2DC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589520" y="3108960"/>
            <a:ext cx="594359" cy="0"/>
          </a:xfrm>
          <a:prstGeom prst="line">
            <a:avLst/>
          </a:prstGeom>
          <a:ln w="31750">
            <a:solidFill>
              <a:srgbClr val="4AD6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9372600" y="4206240"/>
            <a:ext cx="137160" cy="457200"/>
          </a:xfrm>
          <a:prstGeom prst="line">
            <a:avLst/>
          </a:prstGeom>
          <a:ln w="31750">
            <a:solidFill>
              <a:srgbClr val="FFA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875520" y="4206240"/>
            <a:ext cx="1097280" cy="457200"/>
          </a:xfrm>
          <a:prstGeom prst="line">
            <a:avLst/>
          </a:prstGeom>
          <a:ln w="31750">
            <a:solidFill>
              <a:srgbClr val="4AD6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697D91"/>
                </a:solidFill>
                <a:latin typeface="Aptos"/>
              </a:rPr>
              <a:t>AI-Based Smart Vehicle | ENTC Mega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Hardware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3832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DCCE6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05840" cy="50292"/>
          </a:xfrm>
          <a:prstGeom prst="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33271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ABBBCC"/>
                </a:solidFill>
                <a:latin typeface="Aptos"/>
              </a:rPr>
              <a:t>Practical hardware for a compact ENTC prototype.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89888"/>
            <a:ext cx="3493008" cy="941832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89888"/>
            <a:ext cx="54864" cy="941832"/>
          </a:xfrm>
          <a:prstGeom prst="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3172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Raspberry Pi 4/5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3172968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AI + computer vision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89888"/>
            <a:ext cx="3493008" cy="941832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89888"/>
            <a:ext cx="54864" cy="941832"/>
          </a:xfrm>
          <a:prstGeom prst="rect">
            <a:avLst/>
          </a:prstGeom>
          <a:solidFill>
            <a:srgbClr val="FF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17904"/>
            <a:ext cx="3172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Pi / USB Camera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20240"/>
            <a:ext cx="3172968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Lane &amp; object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89888"/>
            <a:ext cx="3493008" cy="941832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389888"/>
            <a:ext cx="54864" cy="941832"/>
          </a:xfrm>
          <a:prstGeom prst="rect">
            <a:avLst/>
          </a:prstGeom>
          <a:solidFill>
            <a:srgbClr val="4AD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517904"/>
            <a:ext cx="3172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ESP32 / Arduino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920240"/>
            <a:ext cx="3172968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Low-level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596896"/>
            <a:ext cx="3493008" cy="941832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2596896"/>
            <a:ext cx="54864" cy="941832"/>
          </a:xfrm>
          <a:prstGeom prst="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724912"/>
            <a:ext cx="3172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4WD Chassis + Motors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127248"/>
            <a:ext cx="3172968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Vehicle platform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2596896"/>
            <a:ext cx="3493008" cy="941832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2596896"/>
            <a:ext cx="54864" cy="941832"/>
          </a:xfrm>
          <a:prstGeom prst="rect">
            <a:avLst/>
          </a:prstGeom>
          <a:solidFill>
            <a:srgbClr val="FF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2724912"/>
            <a:ext cx="3172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Motor Driver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127248"/>
            <a:ext cx="3172968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Motor interface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2596896"/>
            <a:ext cx="3493008" cy="941832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2596896"/>
            <a:ext cx="54864" cy="941832"/>
          </a:xfrm>
          <a:prstGeom prst="rect">
            <a:avLst/>
          </a:prstGeom>
          <a:solidFill>
            <a:srgbClr val="4AD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2724912"/>
            <a:ext cx="3172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Servo Motor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127248"/>
            <a:ext cx="3172968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Steering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803904"/>
            <a:ext cx="3493008" cy="941832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3803904"/>
            <a:ext cx="54864" cy="941832"/>
          </a:xfrm>
          <a:prstGeom prst="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931920"/>
            <a:ext cx="3172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Ultrasonic ×2–3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334256"/>
            <a:ext cx="3172968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Obstacle distance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3803904"/>
            <a:ext cx="3493008" cy="941832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3803904"/>
            <a:ext cx="54864" cy="941832"/>
          </a:xfrm>
          <a:prstGeom prst="rect">
            <a:avLst/>
          </a:prstGeom>
          <a:solidFill>
            <a:srgbClr val="FF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3931920"/>
            <a:ext cx="3172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IR Sensors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4334256"/>
            <a:ext cx="3172968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Lane tracking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20" y="3803904"/>
            <a:ext cx="3493008" cy="941832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75320" y="3803904"/>
            <a:ext cx="54864" cy="941832"/>
          </a:xfrm>
          <a:prstGeom prst="rect">
            <a:avLst/>
          </a:prstGeom>
          <a:solidFill>
            <a:srgbClr val="4AD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3931920"/>
            <a:ext cx="3172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OLED / Buzzer / LEDs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334256"/>
            <a:ext cx="3172968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Status &amp; warning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010912"/>
            <a:ext cx="3493008" cy="941832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" y="5010912"/>
            <a:ext cx="54864" cy="941832"/>
          </a:xfrm>
          <a:prstGeom prst="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138928"/>
            <a:ext cx="3172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Battery + Regulator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541264"/>
            <a:ext cx="3172968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Power supply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34840" y="5010912"/>
            <a:ext cx="3493008" cy="941832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34840" y="5010912"/>
            <a:ext cx="54864" cy="941832"/>
          </a:xfrm>
          <a:prstGeom prst="rect">
            <a:avLst/>
          </a:prstGeom>
          <a:solidFill>
            <a:srgbClr val="FF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17720" y="5138928"/>
            <a:ext cx="3172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Optional GPS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20" y="5541264"/>
            <a:ext cx="3172968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Location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75320" y="5010912"/>
            <a:ext cx="3493008" cy="941832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75320" y="5010912"/>
            <a:ext cx="54864" cy="941832"/>
          </a:xfrm>
          <a:prstGeom prst="rect">
            <a:avLst/>
          </a:prstGeom>
          <a:solidFill>
            <a:srgbClr val="4AD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58200" y="5138928"/>
            <a:ext cx="3172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Emergency Stop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5541264"/>
            <a:ext cx="3172968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Safe testing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697D91"/>
                </a:solidFill>
                <a:latin typeface="Aptos"/>
              </a:rPr>
              <a:t>AI-Based Smart Vehicle | ENTC Mega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Prototype Hardware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3832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DCCE6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05840" cy="50292"/>
          </a:xfrm>
          <a:prstGeom prst="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33271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ABBBCC"/>
                </a:solidFill>
                <a:latin typeface="Aptos"/>
              </a:rPr>
              <a:t>Real small-scale autonomous-car hardware uses a camera, Raspberry Pi and vehicle chassis.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75120" cy="4526280"/>
          </a:xfrm>
          <a:prstGeom prst="roundRect">
            <a:avLst/>
          </a:prstGeom>
          <a:solidFill>
            <a:srgbClr val="132030"/>
          </a:solidFill>
          <a:ln>
            <a:solidFill>
              <a:srgbClr val="32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_crop_t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72768"/>
            <a:ext cx="6355080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62356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BBBCC"/>
                </a:solidFill>
                <a:latin typeface="Aptos"/>
              </a:rPr>
              <a:t>Reference hardware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554480"/>
            <a:ext cx="3886200" cy="123444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554480"/>
            <a:ext cx="54864" cy="1234440"/>
          </a:xfrm>
          <a:prstGeom prst="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9" y="1682495"/>
            <a:ext cx="3566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Camera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2084831"/>
            <a:ext cx="3566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Mounted high/front for road and object perception.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971800"/>
            <a:ext cx="3886200" cy="123444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2971800"/>
            <a:ext cx="54864" cy="1234440"/>
          </a:xfrm>
          <a:prstGeom prst="rect">
            <a:avLst/>
          </a:prstGeom>
          <a:solidFill>
            <a:srgbClr val="FF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19" y="3099816"/>
            <a:ext cx="3566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Compute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19" y="3502152"/>
            <a:ext cx="3566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Raspberry Pi acts as the AI processing brain.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389120"/>
            <a:ext cx="3886200" cy="123444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4389120"/>
            <a:ext cx="54864" cy="1234440"/>
          </a:xfrm>
          <a:prstGeom prst="rect">
            <a:avLst/>
          </a:prstGeom>
          <a:solidFill>
            <a:srgbClr val="4AD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19" y="4517136"/>
            <a:ext cx="3566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Drive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19" y="4919472"/>
            <a:ext cx="3566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Motors + driver + steering actuator convert decisions into motion.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697D91"/>
                </a:solidFill>
                <a:latin typeface="Aptos"/>
              </a:rPr>
              <a:t>AI-Based Smart Vehicle | ENTC Mega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Adaptive Cruise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3832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DCCE6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05840" cy="50292"/>
          </a:xfrm>
          <a:prstGeom prst="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33271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ABBBCC"/>
                </a:solidFill>
                <a:latin typeface="Aptos"/>
              </a:rPr>
              <a:t>Maintain a target following distance by adjusting speed.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675120" cy="448056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_crop_t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600200"/>
            <a:ext cx="635508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349240"/>
            <a:ext cx="6035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BBBCC"/>
                </a:solidFill>
                <a:latin typeface="Aptos"/>
              </a:rPr>
              <a:t>Concept reference: vehicle detection + lane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508760"/>
            <a:ext cx="3886200" cy="114300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508760"/>
            <a:ext cx="54864" cy="1143000"/>
          </a:xfrm>
          <a:prstGeom prst="rect">
            <a:avLst/>
          </a:prstGeom>
          <a:solidFill>
            <a:srgbClr val="4AD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9" y="1636776"/>
            <a:ext cx="3566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No vehicle ahead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2039112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Vehicle maintains the set model speed.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834640"/>
            <a:ext cx="3886200" cy="114300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2834640"/>
            <a:ext cx="54864" cy="1143000"/>
          </a:xfrm>
          <a:prstGeom prst="rect">
            <a:avLst/>
          </a:prstGeom>
          <a:solidFill>
            <a:srgbClr val="FF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19" y="2962656"/>
            <a:ext cx="3566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Vehicle detected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19" y="3364992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System reduces speed to maintain distance.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160520"/>
            <a:ext cx="3886200" cy="114300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4160520"/>
            <a:ext cx="54864" cy="1143000"/>
          </a:xfrm>
          <a:prstGeom prst="rect">
            <a:avLst/>
          </a:prstGeom>
          <a:solidFill>
            <a:srgbClr val="F5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19" y="4288536"/>
            <a:ext cx="3566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Too close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19" y="4690872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System commands braking / stop in the demo.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697D91"/>
                </a:solidFill>
                <a:latin typeface="Aptos"/>
              </a:rPr>
              <a:t>AI-Based Smart Vehicle | ENTC Mega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Lane Assistance &amp; Obstacle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3832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DCCE6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05840" cy="50292"/>
          </a:xfrm>
          <a:prstGeom prst="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33271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ABBBCC"/>
                </a:solidFill>
                <a:latin typeface="Aptos"/>
              </a:rPr>
              <a:t>Two complementary safety behaviours.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94960" cy="443484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4AD693"/>
                </a:solidFill>
                <a:latin typeface="Aptos"/>
              </a:rPr>
              <a:t>LANE ASSISTANCE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331720"/>
            <a:ext cx="3840480" cy="2880360"/>
          </a:xfrm>
          <a:prstGeom prst="rect">
            <a:avLst/>
          </a:prstGeom>
          <a:solidFill>
            <a:srgbClr val="282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18688" y="2560320"/>
            <a:ext cx="146304" cy="3840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18688" y="3246120"/>
            <a:ext cx="146304" cy="3840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18688" y="3931920"/>
            <a:ext cx="146304" cy="3840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18688" y="4617720"/>
            <a:ext cx="146304" cy="3840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88920" y="4160520"/>
            <a:ext cx="1005840" cy="594360"/>
          </a:xfrm>
          <a:prstGeom prst="round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5212080" cy="443484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737360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AB42"/>
                </a:solidFill>
                <a:latin typeface="Aptos"/>
              </a:rPr>
              <a:t>OBSTACLE DETECTION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452360" y="2788920"/>
            <a:ext cx="1188720" cy="1417320"/>
          </a:xfrm>
          <a:prstGeom prst="line">
            <a:avLst/>
          </a:prstGeom>
          <a:ln w="25400">
            <a:solidFill>
              <a:srgbClr val="FFA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7955280" y="2788920"/>
            <a:ext cx="685800" cy="1417320"/>
          </a:xfrm>
          <a:prstGeom prst="line">
            <a:avLst/>
          </a:prstGeom>
          <a:ln w="25400">
            <a:solidFill>
              <a:srgbClr val="FFA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8458200" y="2788920"/>
            <a:ext cx="182880" cy="1417320"/>
          </a:xfrm>
          <a:prstGeom prst="line">
            <a:avLst/>
          </a:prstGeom>
          <a:ln w="25400">
            <a:solidFill>
              <a:srgbClr val="FFA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0" y="3840480"/>
            <a:ext cx="868680" cy="548640"/>
          </a:xfrm>
          <a:prstGeom prst="round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29800" y="2468880"/>
            <a:ext cx="640080" cy="640080"/>
          </a:xfrm>
          <a:prstGeom prst="rect">
            <a:avLst/>
          </a:prstGeom>
          <a:solidFill>
            <a:srgbClr val="F5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32461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Obstacle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440680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ABBBCC"/>
                </a:solidFill>
                <a:latin typeface="Aptos"/>
              </a:rPr>
              <a:t>Detect lane center → steer correction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440680"/>
            <a:ext cx="4206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ABBBCC"/>
                </a:solidFill>
                <a:latin typeface="Aptos"/>
              </a:rPr>
              <a:t>Measure distance → slow / stop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697D91"/>
                </a:solidFill>
                <a:latin typeface="Aptos"/>
              </a:rPr>
              <a:t>AI-Based Smart Vehicle | ENTC Mega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Working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3832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DCCE6"/>
                </a:solidFill>
                <a:latin typeface="Apto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05840" cy="50292"/>
          </a:xfrm>
          <a:prstGeom prst="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33271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ABBBCC"/>
                </a:solidFill>
                <a:latin typeface="Aptos"/>
              </a:rPr>
              <a:t>A closed-loop demonstration from sensing to vehicle motion.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645920" cy="2560320"/>
          </a:xfrm>
          <a:prstGeom prst="roundRect">
            <a:avLst/>
          </a:prstGeom>
          <a:solidFill>
            <a:srgbClr val="132030"/>
          </a:solidFill>
          <a:ln>
            <a:solidFill>
              <a:srgbClr val="2DC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057400"/>
            <a:ext cx="594360" cy="594360"/>
          </a:xfrm>
          <a:prstGeom prst="ellipse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176272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8111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Sense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ABBBCC"/>
                </a:solidFill>
                <a:latin typeface="Aptos"/>
              </a:rPr>
              <a:t>Camera + ultrasonic + IR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12848" y="3108960"/>
            <a:ext cx="256032" cy="0"/>
          </a:xfrm>
          <a:prstGeom prst="line">
            <a:avLst/>
          </a:prstGeom>
          <a:ln w="22860">
            <a:solidFill>
              <a:srgbClr val="5A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68880" y="1828800"/>
            <a:ext cx="1645920" cy="2560320"/>
          </a:xfrm>
          <a:prstGeom prst="roundRect">
            <a:avLst/>
          </a:prstGeom>
          <a:solidFill>
            <a:srgbClr val="132030"/>
          </a:solidFill>
          <a:ln>
            <a:solidFill>
              <a:srgbClr val="FFA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99232" y="2057400"/>
            <a:ext cx="594360" cy="594360"/>
          </a:xfrm>
          <a:prstGeom prst="ellipse">
            <a:avLst/>
          </a:prstGeom>
          <a:solidFill>
            <a:srgbClr val="FF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2176272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8111D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88036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401568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ABBBCC"/>
                </a:solidFill>
                <a:latin typeface="Aptos"/>
              </a:rPr>
              <a:t>AI / computer vision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3088" y="3108960"/>
            <a:ext cx="256032" cy="0"/>
          </a:xfrm>
          <a:prstGeom prst="line">
            <a:avLst/>
          </a:prstGeom>
          <a:ln w="22860">
            <a:solidFill>
              <a:srgbClr val="5A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89120" y="1828800"/>
            <a:ext cx="1645920" cy="2560320"/>
          </a:xfrm>
          <a:prstGeom prst="roundRect">
            <a:avLst/>
          </a:prstGeom>
          <a:solidFill>
            <a:srgbClr val="132030"/>
          </a:solidFill>
          <a:ln>
            <a:solidFill>
              <a:srgbClr val="4AD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19472" y="2057400"/>
            <a:ext cx="594360" cy="594360"/>
          </a:xfrm>
          <a:prstGeom prst="ellipse">
            <a:avLst/>
          </a:prstGeom>
          <a:solidFill>
            <a:srgbClr val="4AD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2" y="2176272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8111D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88036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401568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ABBBCC"/>
                </a:solidFill>
                <a:latin typeface="Aptos"/>
              </a:rPr>
              <a:t>Speed + steering command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53328" y="3108960"/>
            <a:ext cx="256032" cy="0"/>
          </a:xfrm>
          <a:prstGeom prst="line">
            <a:avLst/>
          </a:prstGeom>
          <a:ln w="22860">
            <a:solidFill>
              <a:srgbClr val="5A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09360" y="1828800"/>
            <a:ext cx="1645920" cy="2560320"/>
          </a:xfrm>
          <a:prstGeom prst="roundRect">
            <a:avLst/>
          </a:prstGeom>
          <a:solidFill>
            <a:srgbClr val="132030"/>
          </a:solidFill>
          <a:ln>
            <a:solidFill>
              <a:srgbClr val="2DC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39712" y="2057400"/>
            <a:ext cx="594360" cy="594360"/>
          </a:xfrm>
          <a:prstGeom prst="ellipse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2176272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8111D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88036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401568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ABBBCC"/>
                </a:solidFill>
                <a:latin typeface="Aptos"/>
              </a:rPr>
              <a:t>ESP32 + PWM + driver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73568" y="3108960"/>
            <a:ext cx="256032" cy="0"/>
          </a:xfrm>
          <a:prstGeom prst="line">
            <a:avLst/>
          </a:prstGeom>
          <a:ln w="22860">
            <a:solidFill>
              <a:srgbClr val="5A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29600" y="1828800"/>
            <a:ext cx="1645920" cy="2560320"/>
          </a:xfrm>
          <a:prstGeom prst="roundRect">
            <a:avLst/>
          </a:prstGeom>
          <a:solidFill>
            <a:srgbClr val="132030"/>
          </a:solidFill>
          <a:ln>
            <a:solidFill>
              <a:srgbClr val="FFA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9952" y="2057400"/>
            <a:ext cx="594360" cy="594360"/>
          </a:xfrm>
          <a:prstGeom prst="ellipse">
            <a:avLst/>
          </a:prstGeom>
          <a:solidFill>
            <a:srgbClr val="FF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59952" y="2176272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8111D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88036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401568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ABBBCC"/>
                </a:solidFill>
                <a:latin typeface="Aptos"/>
              </a:rPr>
              <a:t>Motors + servo + warning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93808" y="3108960"/>
            <a:ext cx="256032" cy="0"/>
          </a:xfrm>
          <a:prstGeom prst="line">
            <a:avLst/>
          </a:prstGeom>
          <a:ln w="22860">
            <a:solidFill>
              <a:srgbClr val="5A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149840" y="1828800"/>
            <a:ext cx="1645920" cy="2560320"/>
          </a:xfrm>
          <a:prstGeom prst="roundRect">
            <a:avLst/>
          </a:prstGeom>
          <a:solidFill>
            <a:srgbClr val="132030"/>
          </a:solidFill>
          <a:ln>
            <a:solidFill>
              <a:srgbClr val="4AD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80192" y="2057400"/>
            <a:ext cx="594360" cy="594360"/>
          </a:xfrm>
          <a:prstGeom prst="ellipse">
            <a:avLst/>
          </a:prstGeom>
          <a:solidFill>
            <a:srgbClr val="4AD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80192" y="2176272"/>
            <a:ext cx="5943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8111D"/>
                </a:solidFill>
                <a:latin typeface="Aptos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288036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Feedback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3401568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ABBBCC"/>
                </a:solidFill>
                <a:latin typeface="Aptos"/>
              </a:rPr>
              <a:t>Repeat continuously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5166360"/>
            <a:ext cx="9784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Live demonstration: place an obstacle or lead vehicle → observe speed/stop response.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697D91"/>
                </a:solidFill>
                <a:latin typeface="Aptos"/>
              </a:rPr>
              <a:t>AI-Based Smart Vehicle | ENTC Mega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Tabletop Demonstration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3832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DCCE6"/>
                </a:solidFill>
                <a:latin typeface="Apto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05840" cy="50292"/>
          </a:xfrm>
          <a:prstGeom prst="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33271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ABBBCC"/>
                </a:solidFill>
                <a:latin typeface="Aptos"/>
              </a:rPr>
              <a:t>Recommended setup: approximately 6 × 4 ft track.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7315200" cy="4663440"/>
          </a:xfrm>
          <a:prstGeom prst="roundRect">
            <a:avLst/>
          </a:prstGeom>
          <a:solidFill>
            <a:srgbClr val="25292E"/>
          </a:solidFill>
          <a:ln>
            <a:solidFill>
              <a:srgbClr val="465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148840"/>
            <a:ext cx="6675120" cy="411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4434840"/>
            <a:ext cx="6675120" cy="4114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3264408"/>
            <a:ext cx="502920" cy="45720"/>
          </a:xfrm>
          <a:prstGeom prst="rect">
            <a:avLst/>
          </a:prstGeom>
          <a:solidFill>
            <a:srgbClr val="FF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0" y="3264408"/>
            <a:ext cx="502920" cy="45720"/>
          </a:xfrm>
          <a:prstGeom prst="rect">
            <a:avLst/>
          </a:prstGeom>
          <a:solidFill>
            <a:srgbClr val="FF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3264408"/>
            <a:ext cx="502920" cy="45720"/>
          </a:xfrm>
          <a:prstGeom prst="rect">
            <a:avLst/>
          </a:prstGeom>
          <a:solidFill>
            <a:srgbClr val="FF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3264408"/>
            <a:ext cx="502920" cy="45720"/>
          </a:xfrm>
          <a:prstGeom prst="rect">
            <a:avLst/>
          </a:prstGeom>
          <a:solidFill>
            <a:srgbClr val="FF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94960" y="3264408"/>
            <a:ext cx="502920" cy="45720"/>
          </a:xfrm>
          <a:prstGeom prst="rect">
            <a:avLst/>
          </a:prstGeom>
          <a:solidFill>
            <a:srgbClr val="FF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264408"/>
            <a:ext cx="502920" cy="45720"/>
          </a:xfrm>
          <a:prstGeom prst="rect">
            <a:avLst/>
          </a:prstGeom>
          <a:solidFill>
            <a:srgbClr val="FF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26080" y="3794760"/>
            <a:ext cx="1325880" cy="594360"/>
          </a:xfrm>
          <a:prstGeom prst="round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3968496"/>
            <a:ext cx="12344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8111D"/>
                </a:solidFill>
                <a:latin typeface="Aptos"/>
              </a:rPr>
              <a:t>SMART CAR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600200"/>
            <a:ext cx="502920" cy="502920"/>
          </a:xfrm>
          <a:prstGeom prst="rect">
            <a:avLst/>
          </a:prstGeom>
          <a:solidFill>
            <a:srgbClr val="F5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2212848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5F8FC"/>
                </a:solidFill>
                <a:latin typeface="Aptos"/>
              </a:rPr>
              <a:t>Obstacle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508760"/>
            <a:ext cx="3246120" cy="100584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508760"/>
            <a:ext cx="54864" cy="1005840"/>
          </a:xfrm>
          <a:prstGeom prst="rect">
            <a:avLst/>
          </a:prstGeom>
          <a:solidFill>
            <a:srgbClr val="4AD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636776"/>
            <a:ext cx="29260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ZONE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039112"/>
            <a:ext cx="29260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Lane-following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2743200"/>
            <a:ext cx="3246120" cy="100584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2743200"/>
            <a:ext cx="54864" cy="1005840"/>
          </a:xfrm>
          <a:prstGeom prst="rect">
            <a:avLst/>
          </a:prstGeom>
          <a:solidFill>
            <a:srgbClr val="FFA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2871216"/>
            <a:ext cx="29260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ZONE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273552"/>
            <a:ext cx="29260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Lead vehicle / ACC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977639"/>
            <a:ext cx="3246120" cy="100584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3977639"/>
            <a:ext cx="54864" cy="1005840"/>
          </a:xfrm>
          <a:prstGeom prst="rect">
            <a:avLst/>
          </a:prstGeom>
          <a:solidFill>
            <a:srgbClr val="F5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4105655"/>
            <a:ext cx="29260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ZONE 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507992"/>
            <a:ext cx="29260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Obstacle stop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5212080"/>
            <a:ext cx="3246120" cy="64008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20" y="5212080"/>
            <a:ext cx="54864" cy="640080"/>
          </a:xfrm>
          <a:prstGeom prst="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5340096"/>
            <a:ext cx="292607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5742432"/>
            <a:ext cx="2926079" cy="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OLED: mode / speed / distance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697D91"/>
                </a:solidFill>
                <a:latin typeface="Aptos"/>
              </a:rPr>
              <a:t>AI-Based Smart Vehicle | ENTC Mega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33832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DCCE6"/>
                </a:solidFill>
                <a:latin typeface="Aptos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005840" cy="50292"/>
          </a:xfrm>
          <a:prstGeom prst="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33271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ABBBCC"/>
                </a:solidFill>
                <a:latin typeface="Aptos"/>
              </a:rPr>
              <a:t>A strong, demonstrable ENTC project without needing a full-size road.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349240" cy="356616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4864" cy="3566160"/>
          </a:xfrm>
          <a:prstGeom prst="rect">
            <a:avLst/>
          </a:prstGeom>
          <a:solidFill>
            <a:srgbClr val="2DC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36776"/>
            <a:ext cx="5029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What We Demonstrate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502920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• AI-based perception
• Adaptive following distance
• Lane assistance
• Obstacle detection and stop
• Embedded motor + steering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349240" cy="3566160"/>
          </a:xfrm>
          <a:prstGeom prst="roundRect">
            <a:avLst/>
          </a:prstGeom>
          <a:solidFill>
            <a:srgbClr val="132030"/>
          </a:solidFill>
          <a:ln>
            <a:solidFill>
              <a:srgbClr val="2F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54864" cy="3566160"/>
          </a:xfrm>
          <a:prstGeom prst="rect">
            <a:avLst/>
          </a:prstGeom>
          <a:solidFill>
            <a:srgbClr val="4AD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36776"/>
            <a:ext cx="5029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39112"/>
            <a:ext cx="502920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20" b="0">
                <a:solidFill>
                  <a:srgbClr val="ABBBCC"/>
                </a:solidFill>
                <a:latin typeface="Aptos"/>
              </a:rPr>
              <a:t>• LiDAR / depth camera
• Traffic-sign recognition
• Driver monitoring
• V2V / V2I communication
• CAN-based automotive network
• EV battery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5F8FC"/>
                </a:solidFill>
                <a:latin typeface="Aptos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80760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DCCE6"/>
                </a:solidFill>
                <a:latin typeface="Aptos"/>
              </a:rPr>
              <a:t>Questions?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5486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697D91"/>
                </a:solidFill>
                <a:latin typeface="Aptos"/>
              </a:rPr>
              <a:t>AI-Based Smart Vehicle | ENTC Mega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